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Overpass" panose="020B0604020202020204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4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oogle Shape;13;p2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Google Shape;17;p3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4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1;p4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5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" name="Google Shape;25;p5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" name="Google Shape;29;p6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7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" name="Google Shape;33;p7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8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" name="Google Shape;37;p8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9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" name="Google Shape;41;p9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10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10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9" name="Google Shape;49;p11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/>
          <p:nvPr/>
        </p:nvSpPr>
        <p:spPr>
          <a:xfrm>
            <a:off x="837724" y="2374094"/>
            <a:ext cx="7400330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Overpass"/>
              <a:buNone/>
            </a:pPr>
            <a:r>
              <a:rPr lang="en-US" sz="4400" b="1" i="0" u="none" strike="noStrike" cap="none" dirty="0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The Authenticator Application</a:t>
            </a:r>
            <a:endParaRPr sz="4400" b="0" i="0" u="none" strike="noStrike" cap="none" dirty="0"/>
          </a:p>
        </p:txBody>
      </p:sp>
      <p:sp>
        <p:nvSpPr>
          <p:cNvPr id="58" name="Google Shape;58;p13"/>
          <p:cNvSpPr/>
          <p:nvPr/>
        </p:nvSpPr>
        <p:spPr>
          <a:xfrm>
            <a:off x="837724" y="445472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By Nikhil Bagul</a:t>
            </a:r>
            <a:endParaRPr sz="1850" b="0" i="0" u="none" strike="noStrike" cap="none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/>
          <p:nvPr/>
        </p:nvSpPr>
        <p:spPr>
          <a:xfrm>
            <a:off x="1047750" y="1833444"/>
            <a:ext cx="7095887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Overpass"/>
              <a:buNone/>
            </a:pPr>
            <a:r>
              <a:rPr lang="en-US" sz="4400" b="1" i="0" u="none" strike="noStrike" cap="none" dirty="0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Abstract: Secure 2FA System</a:t>
            </a:r>
            <a:endParaRPr sz="4400" b="0" i="0" u="none" strike="noStrike" cap="none" dirty="0"/>
          </a:p>
        </p:txBody>
      </p:sp>
      <p:sp>
        <p:nvSpPr>
          <p:cNvPr id="65" name="Google Shape;65;p14"/>
          <p:cNvSpPr/>
          <p:nvPr/>
        </p:nvSpPr>
        <p:spPr>
          <a:xfrm>
            <a:off x="837724" y="3940135"/>
            <a:ext cx="12954952" cy="1532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This project presents a secure, web-based Two-Factor Authentication (2FA) system using React (frontend) and FastAPI (backend). It enhances traditional authentication with Time-based One-Time Passwords (TOTP), allowing users to manage multiple accounts and scan QR codes with standard authenticator apps. The system prevents unauthorized access and strengthens account protection against cyber threats.</a:t>
            </a:r>
            <a:endParaRPr sz="1850" b="0" i="0" u="none" strike="noStrike" cap="none"/>
          </a:p>
        </p:txBody>
      </p:sp>
      <p:pic>
        <p:nvPicPr>
          <p:cNvPr id="66" name="Google Shape;66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624631"/>
            <a:ext cx="895350" cy="771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77525" y="7458075"/>
            <a:ext cx="1852875" cy="7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837724" y="1519356"/>
            <a:ext cx="8401883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Overpass"/>
              <a:buNone/>
            </a:pPr>
            <a:r>
              <a:rPr lang="en-US" sz="4400" b="1" i="0" u="none" strike="noStrike" cap="none" dirty="0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The Problem: Insufficient Security</a:t>
            </a:r>
            <a:endParaRPr sz="4400" b="0" i="0" u="none" strike="noStrike" cap="none" dirty="0"/>
          </a:p>
        </p:txBody>
      </p:sp>
      <p:sp>
        <p:nvSpPr>
          <p:cNvPr id="74" name="Google Shape;74;p15"/>
          <p:cNvSpPr/>
          <p:nvPr/>
        </p:nvSpPr>
        <p:spPr>
          <a:xfrm>
            <a:off x="1196697" y="3805476"/>
            <a:ext cx="12595979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"Over 80% of hacking-related breaches involve weak, reused, or stolen credentials."</a:t>
            </a:r>
            <a:endParaRPr sz="1850" b="0" i="0" u="none" strike="noStrike" cap="none"/>
          </a:p>
        </p:txBody>
      </p:sp>
      <p:sp>
        <p:nvSpPr>
          <p:cNvPr id="75" name="Google Shape;75;p15"/>
          <p:cNvSpPr/>
          <p:nvPr/>
        </p:nvSpPr>
        <p:spPr>
          <a:xfrm>
            <a:off x="837724" y="3536275"/>
            <a:ext cx="30480" cy="921425"/>
          </a:xfrm>
          <a:prstGeom prst="rect">
            <a:avLst/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5"/>
          <p:cNvSpPr/>
          <p:nvPr/>
        </p:nvSpPr>
        <p:spPr>
          <a:xfrm>
            <a:off x="837724" y="4726900"/>
            <a:ext cx="12954952" cy="114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Traditional username-password systems are vulnerable to phishing, credential stuffing, and brute-force attacks. This project addresses this critical security gap by implementing a web-based 2FA system using TOTP, adding a dynamic, time-sensitive layer of protection.</a:t>
            </a:r>
            <a:endParaRPr sz="1850" b="0" i="0" u="none" strike="noStrike" cap="none"/>
          </a:p>
        </p:txBody>
      </p:sp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81275" y="7458075"/>
            <a:ext cx="1841850" cy="7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/>
          <p:nvPr/>
        </p:nvSpPr>
        <p:spPr>
          <a:xfrm>
            <a:off x="686157" y="539115"/>
            <a:ext cx="4613315" cy="576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verpass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Project Objectives</a:t>
            </a:r>
            <a:endParaRPr sz="3600" b="0" i="0" u="none" strike="noStrike" cap="none"/>
          </a:p>
        </p:txBody>
      </p:sp>
      <p:sp>
        <p:nvSpPr>
          <p:cNvPr id="84" name="Google Shape;84;p16"/>
          <p:cNvSpPr/>
          <p:nvPr/>
        </p:nvSpPr>
        <p:spPr>
          <a:xfrm>
            <a:off x="686157" y="1801892"/>
            <a:ext cx="6531054" cy="1742242"/>
          </a:xfrm>
          <a:prstGeom prst="roundRect">
            <a:avLst>
              <a:gd name="adj" fmla="val 6298"/>
            </a:avLst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686157" y="1779032"/>
            <a:ext cx="6531054" cy="91440"/>
          </a:xfrm>
          <a:prstGeom prst="roundRect">
            <a:avLst>
              <a:gd name="adj" fmla="val 90057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3657600" y="1507808"/>
            <a:ext cx="588169" cy="588169"/>
          </a:xfrm>
          <a:prstGeom prst="roundRect">
            <a:avLst>
              <a:gd name="adj" fmla="val 155466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3834051" y="1654850"/>
            <a:ext cx="235268" cy="294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45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1</a:t>
            </a:r>
            <a:endParaRPr sz="1850" b="0" i="0" u="none" strike="noStrike" cap="none"/>
          </a:p>
        </p:txBody>
      </p:sp>
      <p:sp>
        <p:nvSpPr>
          <p:cNvPr id="88" name="Google Shape;88;p16"/>
          <p:cNvSpPr/>
          <p:nvPr/>
        </p:nvSpPr>
        <p:spPr>
          <a:xfrm>
            <a:off x="904994" y="2291953"/>
            <a:ext cx="2306598" cy="28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00"/>
              <a:buFont typeface="Overpass"/>
              <a:buNone/>
            </a:pPr>
            <a:r>
              <a:rPr lang="en-US" sz="18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Secure 2FA Web App</a:t>
            </a:r>
            <a:endParaRPr sz="1800" b="0" i="0" u="none" strike="noStrike" cap="none"/>
          </a:p>
        </p:txBody>
      </p:sp>
      <p:sp>
        <p:nvSpPr>
          <p:cNvPr id="89" name="Google Shape;89;p16"/>
          <p:cNvSpPr/>
          <p:nvPr/>
        </p:nvSpPr>
        <p:spPr>
          <a:xfrm>
            <a:off x="904994" y="2697837"/>
            <a:ext cx="6093381" cy="313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500"/>
              <a:buFont typeface="Overpass"/>
              <a:buNone/>
            </a:pPr>
            <a:r>
              <a:rPr lang="en-US" sz="150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Develop a complete 2FA solution using React and FastAPI.</a:t>
            </a:r>
            <a:endParaRPr sz="1500" b="0" i="0" u="none" strike="noStrike" cap="none"/>
          </a:p>
        </p:txBody>
      </p:sp>
      <p:sp>
        <p:nvSpPr>
          <p:cNvPr id="90" name="Google Shape;90;p16"/>
          <p:cNvSpPr/>
          <p:nvPr/>
        </p:nvSpPr>
        <p:spPr>
          <a:xfrm>
            <a:off x="7413188" y="1801892"/>
            <a:ext cx="6531054" cy="1742242"/>
          </a:xfrm>
          <a:prstGeom prst="roundRect">
            <a:avLst>
              <a:gd name="adj" fmla="val 6298"/>
            </a:avLst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7413188" y="1779032"/>
            <a:ext cx="6531054" cy="91440"/>
          </a:xfrm>
          <a:prstGeom prst="roundRect">
            <a:avLst>
              <a:gd name="adj" fmla="val 90057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10384631" y="1507808"/>
            <a:ext cx="588169" cy="588169"/>
          </a:xfrm>
          <a:prstGeom prst="roundRect">
            <a:avLst>
              <a:gd name="adj" fmla="val 155466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10561082" y="1654850"/>
            <a:ext cx="235268" cy="294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45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2</a:t>
            </a:r>
            <a:endParaRPr sz="1850" b="0" i="0" u="none" strike="noStrike" cap="none"/>
          </a:p>
        </p:txBody>
      </p:sp>
      <p:sp>
        <p:nvSpPr>
          <p:cNvPr id="94" name="Google Shape;94;p16"/>
          <p:cNvSpPr/>
          <p:nvPr/>
        </p:nvSpPr>
        <p:spPr>
          <a:xfrm>
            <a:off x="7632025" y="2291953"/>
            <a:ext cx="2827615" cy="28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00"/>
              <a:buFont typeface="Overpass"/>
              <a:buNone/>
            </a:pPr>
            <a:r>
              <a:rPr lang="en-US" sz="18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Multi-Account Management</a:t>
            </a:r>
            <a:endParaRPr sz="1800" b="0" i="0" u="none" strike="noStrike" cap="none"/>
          </a:p>
        </p:txBody>
      </p:sp>
      <p:sp>
        <p:nvSpPr>
          <p:cNvPr id="95" name="Google Shape;95;p16"/>
          <p:cNvSpPr/>
          <p:nvPr/>
        </p:nvSpPr>
        <p:spPr>
          <a:xfrm>
            <a:off x="7640241" y="2844880"/>
            <a:ext cx="6312217" cy="963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500"/>
              <a:buFont typeface="Overpass"/>
              <a:buNone/>
            </a:pPr>
            <a:r>
              <a:rPr lang="en-US" sz="1500" b="0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Allow users to manage various 2FA-enabled services from one dashboard.</a:t>
            </a:r>
            <a:endParaRPr sz="1500" b="0" i="0" u="none" strike="noStrike" cap="none" dirty="0"/>
          </a:p>
        </p:txBody>
      </p:sp>
      <p:sp>
        <p:nvSpPr>
          <p:cNvPr id="96" name="Google Shape;96;p16"/>
          <p:cNvSpPr/>
          <p:nvPr/>
        </p:nvSpPr>
        <p:spPr>
          <a:xfrm>
            <a:off x="686157" y="4034195"/>
            <a:ext cx="6531054" cy="1428512"/>
          </a:xfrm>
          <a:prstGeom prst="roundRect">
            <a:avLst>
              <a:gd name="adj" fmla="val 7681"/>
            </a:avLst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6"/>
          <p:cNvSpPr/>
          <p:nvPr/>
        </p:nvSpPr>
        <p:spPr>
          <a:xfrm>
            <a:off x="686157" y="4011335"/>
            <a:ext cx="6531054" cy="91440"/>
          </a:xfrm>
          <a:prstGeom prst="roundRect">
            <a:avLst>
              <a:gd name="adj" fmla="val 90057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/>
          <p:nvPr/>
        </p:nvSpPr>
        <p:spPr>
          <a:xfrm>
            <a:off x="3657600" y="3740110"/>
            <a:ext cx="588169" cy="588169"/>
          </a:xfrm>
          <a:prstGeom prst="roundRect">
            <a:avLst>
              <a:gd name="adj" fmla="val 155466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3834051" y="3887153"/>
            <a:ext cx="235268" cy="294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45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3</a:t>
            </a:r>
            <a:endParaRPr sz="1850" b="0" i="0" u="none" strike="noStrike" cap="none"/>
          </a:p>
        </p:txBody>
      </p:sp>
      <p:sp>
        <p:nvSpPr>
          <p:cNvPr id="100" name="Google Shape;100;p16"/>
          <p:cNvSpPr/>
          <p:nvPr/>
        </p:nvSpPr>
        <p:spPr>
          <a:xfrm>
            <a:off x="904994" y="4524256"/>
            <a:ext cx="2306598" cy="28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00"/>
              <a:buFont typeface="Overpass"/>
              <a:buNone/>
            </a:pPr>
            <a:r>
              <a:rPr lang="en-US" sz="18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QR Code Enrollment</a:t>
            </a:r>
            <a:endParaRPr sz="1800" b="0" i="0" u="none" strike="noStrike" cap="none"/>
          </a:p>
        </p:txBody>
      </p:sp>
      <p:sp>
        <p:nvSpPr>
          <p:cNvPr id="101" name="Google Shape;101;p16"/>
          <p:cNvSpPr/>
          <p:nvPr/>
        </p:nvSpPr>
        <p:spPr>
          <a:xfrm>
            <a:off x="904994" y="4930140"/>
            <a:ext cx="6093381" cy="313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500"/>
              <a:buFont typeface="Overpass"/>
              <a:buNone/>
            </a:pPr>
            <a:r>
              <a:rPr lang="en-US" sz="150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Implement easy setup using QR codes for authenticator apps.</a:t>
            </a:r>
            <a:endParaRPr sz="1500" b="0" i="0" u="none" strike="noStrike" cap="none"/>
          </a:p>
        </p:txBody>
      </p:sp>
      <p:sp>
        <p:nvSpPr>
          <p:cNvPr id="102" name="Google Shape;102;p16"/>
          <p:cNvSpPr/>
          <p:nvPr/>
        </p:nvSpPr>
        <p:spPr>
          <a:xfrm>
            <a:off x="7413188" y="4034195"/>
            <a:ext cx="6531054" cy="1428512"/>
          </a:xfrm>
          <a:prstGeom prst="roundRect">
            <a:avLst>
              <a:gd name="adj" fmla="val 7681"/>
            </a:avLst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6"/>
          <p:cNvSpPr/>
          <p:nvPr/>
        </p:nvSpPr>
        <p:spPr>
          <a:xfrm>
            <a:off x="7413188" y="4011335"/>
            <a:ext cx="6531054" cy="91440"/>
          </a:xfrm>
          <a:prstGeom prst="roundRect">
            <a:avLst>
              <a:gd name="adj" fmla="val 90057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6"/>
          <p:cNvSpPr/>
          <p:nvPr/>
        </p:nvSpPr>
        <p:spPr>
          <a:xfrm>
            <a:off x="10384631" y="3740110"/>
            <a:ext cx="588169" cy="588169"/>
          </a:xfrm>
          <a:prstGeom prst="roundRect">
            <a:avLst>
              <a:gd name="adj" fmla="val 155466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6"/>
          <p:cNvSpPr/>
          <p:nvPr/>
        </p:nvSpPr>
        <p:spPr>
          <a:xfrm>
            <a:off x="10561082" y="3887153"/>
            <a:ext cx="235268" cy="294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45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4</a:t>
            </a:r>
            <a:endParaRPr sz="1850" b="0" i="0" u="none" strike="noStrike" cap="none"/>
          </a:p>
        </p:txBody>
      </p:sp>
      <p:sp>
        <p:nvSpPr>
          <p:cNvPr id="106" name="Google Shape;106;p16"/>
          <p:cNvSpPr/>
          <p:nvPr/>
        </p:nvSpPr>
        <p:spPr>
          <a:xfrm>
            <a:off x="7632025" y="4524256"/>
            <a:ext cx="2306598" cy="28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00"/>
              <a:buFont typeface="Overpass"/>
              <a:buNone/>
            </a:pPr>
            <a:r>
              <a:rPr lang="en-US" sz="18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Seamless User Flow</a:t>
            </a:r>
            <a:endParaRPr sz="1800" b="0" i="0" u="none" strike="noStrike" cap="none"/>
          </a:p>
        </p:txBody>
      </p:sp>
      <p:sp>
        <p:nvSpPr>
          <p:cNvPr id="107" name="Google Shape;107;p16"/>
          <p:cNvSpPr/>
          <p:nvPr/>
        </p:nvSpPr>
        <p:spPr>
          <a:xfrm>
            <a:off x="7632025" y="4930140"/>
            <a:ext cx="6093381" cy="313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500"/>
              <a:buFont typeface="Overpass"/>
              <a:buNone/>
            </a:pPr>
            <a:r>
              <a:rPr lang="en-US" sz="150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Enable smooth signup, login, and logout functionality.</a:t>
            </a:r>
            <a:endParaRPr sz="1500" b="0" i="0" u="none" strike="noStrike" cap="none"/>
          </a:p>
        </p:txBody>
      </p:sp>
      <p:sp>
        <p:nvSpPr>
          <p:cNvPr id="108" name="Google Shape;108;p16"/>
          <p:cNvSpPr/>
          <p:nvPr/>
        </p:nvSpPr>
        <p:spPr>
          <a:xfrm>
            <a:off x="686157" y="5952768"/>
            <a:ext cx="6531054" cy="1742242"/>
          </a:xfrm>
          <a:prstGeom prst="roundRect">
            <a:avLst>
              <a:gd name="adj" fmla="val 6298"/>
            </a:avLst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686157" y="5929908"/>
            <a:ext cx="6531054" cy="91440"/>
          </a:xfrm>
          <a:prstGeom prst="roundRect">
            <a:avLst>
              <a:gd name="adj" fmla="val 90057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/>
          <p:cNvSpPr/>
          <p:nvPr/>
        </p:nvSpPr>
        <p:spPr>
          <a:xfrm>
            <a:off x="3657600" y="5658683"/>
            <a:ext cx="588169" cy="588169"/>
          </a:xfrm>
          <a:prstGeom prst="roundRect">
            <a:avLst>
              <a:gd name="adj" fmla="val 155466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/>
          <p:cNvSpPr/>
          <p:nvPr/>
        </p:nvSpPr>
        <p:spPr>
          <a:xfrm>
            <a:off x="3834051" y="5805726"/>
            <a:ext cx="235268" cy="294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45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5</a:t>
            </a:r>
            <a:endParaRPr sz="1850" b="0" i="0" u="none" strike="noStrike" cap="none"/>
          </a:p>
        </p:txBody>
      </p:sp>
      <p:sp>
        <p:nvSpPr>
          <p:cNvPr id="112" name="Google Shape;112;p16"/>
          <p:cNvSpPr/>
          <p:nvPr/>
        </p:nvSpPr>
        <p:spPr>
          <a:xfrm>
            <a:off x="904994" y="6442829"/>
            <a:ext cx="2306598" cy="28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00"/>
              <a:buFont typeface="Overpass"/>
              <a:buNone/>
            </a:pPr>
            <a:r>
              <a:rPr lang="en-US" sz="1800" b="1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Secure Token Storage</a:t>
            </a:r>
            <a:endParaRPr sz="1800" b="0" i="0" u="none" strike="noStrike" cap="none" dirty="0"/>
          </a:p>
        </p:txBody>
      </p:sp>
      <p:sp>
        <p:nvSpPr>
          <p:cNvPr id="113" name="Google Shape;113;p16"/>
          <p:cNvSpPr/>
          <p:nvPr/>
        </p:nvSpPr>
        <p:spPr>
          <a:xfrm>
            <a:off x="904994" y="7063026"/>
            <a:ext cx="6289358" cy="6274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500"/>
              <a:buFont typeface="Overpass"/>
              <a:buNone/>
            </a:pPr>
            <a:r>
              <a:rPr lang="en-US" sz="1500" b="0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Ensure secure storage of authentication tokens using JWT &amp; </a:t>
            </a:r>
            <a:r>
              <a:rPr lang="en-US" sz="1500" b="0" i="0" u="none" strike="noStrike" cap="none" dirty="0" err="1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localStorage</a:t>
            </a:r>
            <a:r>
              <a:rPr lang="en-US" sz="1500" b="0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.</a:t>
            </a:r>
            <a:endParaRPr sz="1500" b="0" i="0" u="none" strike="noStrike" cap="none" dirty="0"/>
          </a:p>
        </p:txBody>
      </p:sp>
      <p:sp>
        <p:nvSpPr>
          <p:cNvPr id="114" name="Google Shape;114;p16"/>
          <p:cNvSpPr/>
          <p:nvPr/>
        </p:nvSpPr>
        <p:spPr>
          <a:xfrm>
            <a:off x="7413188" y="5952768"/>
            <a:ext cx="6531054" cy="1742242"/>
          </a:xfrm>
          <a:prstGeom prst="roundRect">
            <a:avLst>
              <a:gd name="adj" fmla="val 6298"/>
            </a:avLst>
          </a:prstGeom>
          <a:solidFill>
            <a:srgbClr val="252222">
              <a:alpha val="7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6"/>
          <p:cNvSpPr/>
          <p:nvPr/>
        </p:nvSpPr>
        <p:spPr>
          <a:xfrm>
            <a:off x="7413188" y="5929908"/>
            <a:ext cx="6531054" cy="91440"/>
          </a:xfrm>
          <a:prstGeom prst="roundRect">
            <a:avLst>
              <a:gd name="adj" fmla="val 90057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6"/>
          <p:cNvSpPr/>
          <p:nvPr/>
        </p:nvSpPr>
        <p:spPr>
          <a:xfrm>
            <a:off x="10384631" y="5658683"/>
            <a:ext cx="588169" cy="588169"/>
          </a:xfrm>
          <a:prstGeom prst="roundRect">
            <a:avLst>
              <a:gd name="adj" fmla="val 155466"/>
            </a:avLst>
          </a:prstGeom>
          <a:solidFill>
            <a:srgbClr val="F203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10561082" y="5805726"/>
            <a:ext cx="235268" cy="294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45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6</a:t>
            </a:r>
            <a:endParaRPr sz="1850" b="0" i="0" u="none" strike="noStrike" cap="none"/>
          </a:p>
        </p:txBody>
      </p:sp>
      <p:sp>
        <p:nvSpPr>
          <p:cNvPr id="118" name="Google Shape;118;p16"/>
          <p:cNvSpPr/>
          <p:nvPr/>
        </p:nvSpPr>
        <p:spPr>
          <a:xfrm>
            <a:off x="7632025" y="6442829"/>
            <a:ext cx="2306598" cy="28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00"/>
              <a:buFont typeface="Overpass"/>
              <a:buNone/>
            </a:pPr>
            <a:r>
              <a:rPr lang="en-US" sz="18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User-Friendly UI</a:t>
            </a:r>
            <a:endParaRPr sz="1800" b="0" i="0" u="none" strike="noStrike" cap="none"/>
          </a:p>
        </p:txBody>
      </p:sp>
      <p:sp>
        <p:nvSpPr>
          <p:cNvPr id="119" name="Google Shape;119;p16"/>
          <p:cNvSpPr/>
          <p:nvPr/>
        </p:nvSpPr>
        <p:spPr>
          <a:xfrm>
            <a:off x="7632025" y="6848713"/>
            <a:ext cx="6093381" cy="313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500"/>
              <a:buFont typeface="Overpass"/>
              <a:buNone/>
            </a:pPr>
            <a:r>
              <a:rPr lang="en-US" sz="150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Create a modern glassmorphism design with React.</a:t>
            </a:r>
            <a:endParaRPr sz="1500" b="0" i="0" u="none" strike="noStrike" cap="none"/>
          </a:p>
        </p:txBody>
      </p:sp>
      <p:pic>
        <p:nvPicPr>
          <p:cNvPr id="120" name="Google Shape;12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25675" y="7476175"/>
            <a:ext cx="1795075" cy="7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/>
          <p:nvPr/>
        </p:nvSpPr>
        <p:spPr>
          <a:xfrm>
            <a:off x="837724" y="813673"/>
            <a:ext cx="8836104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Overpass"/>
              <a:buNone/>
            </a:pPr>
            <a:r>
              <a:rPr lang="en-US" sz="4400" b="1" i="0" u="none" strike="noStrike" cap="none" dirty="0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Key Technologies &amp; Standards</a:t>
            </a:r>
            <a:endParaRPr sz="4400" b="0" i="0" u="none" strike="noStrike" cap="none" dirty="0"/>
          </a:p>
        </p:txBody>
      </p:sp>
      <p:pic>
        <p:nvPicPr>
          <p:cNvPr id="127" name="Google Shape;127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724" y="1996440"/>
            <a:ext cx="718066" cy="718066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7"/>
          <p:cNvSpPr/>
          <p:nvPr/>
        </p:nvSpPr>
        <p:spPr>
          <a:xfrm>
            <a:off x="837724" y="3013710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RFC 6238 (TOTP)</a:t>
            </a:r>
            <a:endParaRPr sz="2200" b="0" i="0" u="none" strike="noStrike" cap="none"/>
          </a:p>
        </p:txBody>
      </p:sp>
      <p:sp>
        <p:nvSpPr>
          <p:cNvPr id="129" name="Google Shape;129;p17"/>
          <p:cNvSpPr/>
          <p:nvPr/>
        </p:nvSpPr>
        <p:spPr>
          <a:xfrm>
            <a:off x="837724" y="3509248"/>
            <a:ext cx="4118848" cy="114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Time-based One-Time Password algorithm for dynamic code generation.</a:t>
            </a:r>
            <a:endParaRPr sz="1850" b="0" i="0" u="none" strike="noStrike" cap="none"/>
          </a:p>
        </p:txBody>
      </p:sp>
      <p:pic>
        <p:nvPicPr>
          <p:cNvPr id="130" name="Google Shape;130;p1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55776" y="1996440"/>
            <a:ext cx="718066" cy="71806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7"/>
          <p:cNvSpPr/>
          <p:nvPr/>
        </p:nvSpPr>
        <p:spPr>
          <a:xfrm>
            <a:off x="5255776" y="3013710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Authenticator Apps</a:t>
            </a:r>
            <a:endParaRPr sz="2200" b="0" i="0" u="none" strike="noStrike" cap="none"/>
          </a:p>
        </p:txBody>
      </p:sp>
      <p:sp>
        <p:nvSpPr>
          <p:cNvPr id="132" name="Google Shape;132;p17"/>
          <p:cNvSpPr/>
          <p:nvPr/>
        </p:nvSpPr>
        <p:spPr>
          <a:xfrm>
            <a:off x="5255776" y="3509248"/>
            <a:ext cx="4118848" cy="114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Compatibility with Google Authenticator &amp; Microsoft Authenticator.</a:t>
            </a:r>
            <a:endParaRPr sz="1850" b="0" i="0" u="none" strike="noStrike" cap="none"/>
          </a:p>
        </p:txBody>
      </p:sp>
      <p:pic>
        <p:nvPicPr>
          <p:cNvPr id="133" name="Google Shape;133;p1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673828" y="1996440"/>
            <a:ext cx="718066" cy="71806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/>
          <p:nvPr/>
        </p:nvSpPr>
        <p:spPr>
          <a:xfrm>
            <a:off x="9673828" y="3013710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OAuth 2.0 &amp; JWT</a:t>
            </a:r>
            <a:endParaRPr sz="2200" b="0" i="0" u="none" strike="noStrike" cap="none"/>
          </a:p>
        </p:txBody>
      </p:sp>
      <p:sp>
        <p:nvSpPr>
          <p:cNvPr id="135" name="Google Shape;135;p17"/>
          <p:cNvSpPr/>
          <p:nvPr/>
        </p:nvSpPr>
        <p:spPr>
          <a:xfrm>
            <a:off x="9673828" y="3509248"/>
            <a:ext cx="4118848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Secure API authentication and stateless token management.</a:t>
            </a:r>
            <a:endParaRPr sz="1850" b="0" i="0" u="none" strike="noStrike" cap="none"/>
          </a:p>
        </p:txBody>
      </p:sp>
      <p:pic>
        <p:nvPicPr>
          <p:cNvPr id="136" name="Google Shape;136;p1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7724" y="5137071"/>
            <a:ext cx="718066" cy="718066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/>
          <p:nvPr/>
        </p:nvSpPr>
        <p:spPr>
          <a:xfrm>
            <a:off x="837724" y="6154341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React 18</a:t>
            </a:r>
            <a:endParaRPr sz="2200" b="0" i="0" u="none" strike="noStrike" cap="none"/>
          </a:p>
        </p:txBody>
      </p:sp>
      <p:sp>
        <p:nvSpPr>
          <p:cNvPr id="138" name="Google Shape;138;p17"/>
          <p:cNvSpPr/>
          <p:nvPr/>
        </p:nvSpPr>
        <p:spPr>
          <a:xfrm>
            <a:off x="837724" y="6649879"/>
            <a:ext cx="4118848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Frontend development with component-based architecture.</a:t>
            </a:r>
            <a:endParaRPr sz="1850" b="0" i="0" u="none" strike="noStrike" cap="none"/>
          </a:p>
        </p:txBody>
      </p:sp>
      <p:pic>
        <p:nvPicPr>
          <p:cNvPr id="139" name="Google Shape;139;p17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255776" y="5137071"/>
            <a:ext cx="718066" cy="718066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/>
          <p:nvPr/>
        </p:nvSpPr>
        <p:spPr>
          <a:xfrm>
            <a:off x="5255776" y="6154341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FastAPI</a:t>
            </a:r>
            <a:endParaRPr sz="2200" b="0" i="0" u="none" strike="noStrike" cap="none"/>
          </a:p>
        </p:txBody>
      </p:sp>
      <p:sp>
        <p:nvSpPr>
          <p:cNvPr id="141" name="Google Shape;141;p17"/>
          <p:cNvSpPr/>
          <p:nvPr/>
        </p:nvSpPr>
        <p:spPr>
          <a:xfrm>
            <a:off x="5255776" y="6649879"/>
            <a:ext cx="4118848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High-performance Python web framework for the backend.</a:t>
            </a:r>
            <a:endParaRPr sz="1850" b="0" i="0" u="none" strike="noStrike" cap="none"/>
          </a:p>
        </p:txBody>
      </p:sp>
      <p:pic>
        <p:nvPicPr>
          <p:cNvPr id="142" name="Google Shape;142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681276" y="7415925"/>
            <a:ext cx="1949125" cy="7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8"/>
          <p:cNvSpPr/>
          <p:nvPr/>
        </p:nvSpPr>
        <p:spPr>
          <a:xfrm>
            <a:off x="837724" y="1131629"/>
            <a:ext cx="6553319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Overpass"/>
              <a:buNone/>
            </a:pPr>
            <a:r>
              <a:rPr lang="en-US" sz="4400" b="1" i="0" u="none" strike="noStrike" cap="none" dirty="0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Implementation Highlights</a:t>
            </a:r>
            <a:endParaRPr sz="4400" b="0" i="0" u="none" strike="noStrike" cap="none" dirty="0"/>
          </a:p>
        </p:txBody>
      </p:sp>
      <p:sp>
        <p:nvSpPr>
          <p:cNvPr id="149" name="Google Shape;149;p18"/>
          <p:cNvSpPr/>
          <p:nvPr/>
        </p:nvSpPr>
        <p:spPr>
          <a:xfrm>
            <a:off x="837724" y="2785824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Frontend (React)</a:t>
            </a:r>
            <a:endParaRPr sz="2200" b="0" i="0" u="none" strike="noStrike" cap="none"/>
          </a:p>
        </p:txBody>
      </p:sp>
      <p:sp>
        <p:nvSpPr>
          <p:cNvPr id="150" name="Google Shape;150;p18"/>
          <p:cNvSpPr/>
          <p:nvPr/>
        </p:nvSpPr>
        <p:spPr>
          <a:xfrm>
            <a:off x="837724" y="3377089"/>
            <a:ext cx="6185535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Char char="•"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User Authentication Form (AuthForm.jsx)</a:t>
            </a:r>
            <a:endParaRPr sz="1850" b="0" i="0" u="none" strike="noStrike" cap="none"/>
          </a:p>
        </p:txBody>
      </p:sp>
      <p:sp>
        <p:nvSpPr>
          <p:cNvPr id="151" name="Google Shape;151;p18"/>
          <p:cNvSpPr/>
          <p:nvPr/>
        </p:nvSpPr>
        <p:spPr>
          <a:xfrm>
            <a:off x="837724" y="3843814"/>
            <a:ext cx="6185535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Char char="•"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Dashboard with QR Code management</a:t>
            </a:r>
            <a:endParaRPr sz="1850" b="0" i="0" u="none" strike="noStrike" cap="none"/>
          </a:p>
        </p:txBody>
      </p:sp>
      <p:sp>
        <p:nvSpPr>
          <p:cNvPr id="152" name="Google Shape;152;p18"/>
          <p:cNvSpPr/>
          <p:nvPr/>
        </p:nvSpPr>
        <p:spPr>
          <a:xfrm>
            <a:off x="837724" y="4310539"/>
            <a:ext cx="6185535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Char char="•"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JWT token-based access control</a:t>
            </a:r>
            <a:endParaRPr sz="1850" b="0" i="0" u="none" strike="noStrike" cap="none"/>
          </a:p>
        </p:txBody>
      </p:sp>
      <p:sp>
        <p:nvSpPr>
          <p:cNvPr id="153" name="Google Shape;153;p18"/>
          <p:cNvSpPr/>
          <p:nvPr/>
        </p:nvSpPr>
        <p:spPr>
          <a:xfrm>
            <a:off x="837724" y="4777264"/>
            <a:ext cx="6185535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Char char="•"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Glassmorphism UI with TailwindCSS</a:t>
            </a:r>
            <a:endParaRPr sz="1850" b="0" i="0" u="none" strike="noStrike" cap="none"/>
          </a:p>
        </p:txBody>
      </p:sp>
      <p:sp>
        <p:nvSpPr>
          <p:cNvPr id="154" name="Google Shape;154;p18"/>
          <p:cNvSpPr/>
          <p:nvPr/>
        </p:nvSpPr>
        <p:spPr>
          <a:xfrm>
            <a:off x="7614761" y="2785824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Backend (FastAPI)</a:t>
            </a:r>
            <a:endParaRPr sz="2200" b="0" i="0" u="none" strike="noStrike" cap="none"/>
          </a:p>
        </p:txBody>
      </p:sp>
      <p:sp>
        <p:nvSpPr>
          <p:cNvPr id="155" name="Google Shape;155;p18"/>
          <p:cNvSpPr/>
          <p:nvPr/>
        </p:nvSpPr>
        <p:spPr>
          <a:xfrm>
            <a:off x="7614761" y="3377089"/>
            <a:ext cx="6185535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Char char="•"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/signup – User Registration</a:t>
            </a:r>
            <a:endParaRPr sz="1850" b="0" i="0" u="none" strike="noStrike" cap="none"/>
          </a:p>
        </p:txBody>
      </p:sp>
      <p:sp>
        <p:nvSpPr>
          <p:cNvPr id="156" name="Google Shape;156;p18"/>
          <p:cNvSpPr/>
          <p:nvPr/>
        </p:nvSpPr>
        <p:spPr>
          <a:xfrm>
            <a:off x="7614761" y="3843814"/>
            <a:ext cx="6185535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Char char="•"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/login – User Login (with 2FA trigger)</a:t>
            </a:r>
            <a:endParaRPr sz="1850" b="0" i="0" u="none" strike="noStrike" cap="none"/>
          </a:p>
        </p:txBody>
      </p:sp>
      <p:sp>
        <p:nvSpPr>
          <p:cNvPr id="157" name="Google Shape;157;p18"/>
          <p:cNvSpPr/>
          <p:nvPr/>
        </p:nvSpPr>
        <p:spPr>
          <a:xfrm>
            <a:off x="7614761" y="4310539"/>
            <a:ext cx="6185535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Char char="•"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/verify-otp – TOTP verification</a:t>
            </a:r>
            <a:endParaRPr sz="1850" b="0" i="0" u="none" strike="noStrike" cap="none"/>
          </a:p>
        </p:txBody>
      </p:sp>
      <p:sp>
        <p:nvSpPr>
          <p:cNvPr id="158" name="Google Shape;158;p18"/>
          <p:cNvSpPr/>
          <p:nvPr/>
        </p:nvSpPr>
        <p:spPr>
          <a:xfrm>
            <a:off x="7614761" y="4777264"/>
            <a:ext cx="6185535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Char char="•"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/accounts – Manage TOTP-enabled accounts</a:t>
            </a:r>
            <a:endParaRPr sz="1850" b="0" i="0" u="none" strike="noStrike" cap="none"/>
          </a:p>
        </p:txBody>
      </p:sp>
      <p:sp>
        <p:nvSpPr>
          <p:cNvPr id="159" name="Google Shape;159;p18"/>
          <p:cNvSpPr/>
          <p:nvPr/>
        </p:nvSpPr>
        <p:spPr>
          <a:xfrm>
            <a:off x="7614761" y="5243989"/>
            <a:ext cx="6185535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Char char="•"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/add-account – Generate QR Code</a:t>
            </a:r>
            <a:endParaRPr sz="1850" b="0" i="0" u="none" strike="noStrike" cap="none"/>
          </a:p>
        </p:txBody>
      </p:sp>
      <p:sp>
        <p:nvSpPr>
          <p:cNvPr id="160" name="Google Shape;160;p18"/>
          <p:cNvSpPr/>
          <p:nvPr/>
        </p:nvSpPr>
        <p:spPr>
          <a:xfrm>
            <a:off x="837724" y="5979914"/>
            <a:ext cx="12954952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Security is ensured through JWT-based authentication, secure token storage, and server-side TOTP validation using pyOTP.</a:t>
            </a:r>
            <a:endParaRPr sz="1850" b="0" i="0" u="none" strike="noStrike" cap="none"/>
          </a:p>
        </p:txBody>
      </p:sp>
      <p:pic>
        <p:nvPicPr>
          <p:cNvPr id="161" name="Google Shape;16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53475" y="7458075"/>
            <a:ext cx="1876925" cy="7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9"/>
          <p:cNvSpPr/>
          <p:nvPr/>
        </p:nvSpPr>
        <p:spPr>
          <a:xfrm>
            <a:off x="837724" y="1102161"/>
            <a:ext cx="5704642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Overpass"/>
              <a:buNone/>
            </a:pPr>
            <a:r>
              <a:rPr lang="en-US" sz="4400" b="1" i="0" u="none" strike="noStrike" cap="none" dirty="0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Results &amp; Observations</a:t>
            </a:r>
            <a:endParaRPr sz="4400" b="0" i="0" u="none" strike="noStrike" cap="none" dirty="0"/>
          </a:p>
        </p:txBody>
      </p:sp>
      <p:sp>
        <p:nvSpPr>
          <p:cNvPr id="168" name="Google Shape;168;p19"/>
          <p:cNvSpPr/>
          <p:nvPr/>
        </p:nvSpPr>
        <p:spPr>
          <a:xfrm>
            <a:off x="837724" y="3073122"/>
            <a:ext cx="4118848" cy="789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6200"/>
              <a:buFont typeface="Overpass"/>
              <a:buNone/>
            </a:pPr>
            <a:r>
              <a:rPr lang="en-US" sz="6200" b="1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100%</a:t>
            </a:r>
            <a:endParaRPr sz="6200" b="0" i="0" u="none" strike="noStrike" cap="none" dirty="0"/>
          </a:p>
        </p:txBody>
      </p:sp>
      <p:sp>
        <p:nvSpPr>
          <p:cNvPr id="169" name="Google Shape;169;p19"/>
          <p:cNvSpPr/>
          <p:nvPr/>
        </p:nvSpPr>
        <p:spPr>
          <a:xfrm>
            <a:off x="1488996" y="4162068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OTP Accuracy</a:t>
            </a:r>
            <a:endParaRPr sz="2200" b="0" i="0" u="none" strike="noStrike" cap="none"/>
          </a:p>
        </p:txBody>
      </p:sp>
      <p:sp>
        <p:nvSpPr>
          <p:cNvPr id="170" name="Google Shape;170;p19"/>
          <p:cNvSpPr/>
          <p:nvPr/>
        </p:nvSpPr>
        <p:spPr>
          <a:xfrm>
            <a:off x="837724" y="4657606"/>
            <a:ext cx="4118848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Successful verification for valid codes.</a:t>
            </a:r>
            <a:endParaRPr sz="1850" b="0" i="0" u="none" strike="noStrike" cap="none"/>
          </a:p>
        </p:txBody>
      </p:sp>
      <p:sp>
        <p:nvSpPr>
          <p:cNvPr id="171" name="Google Shape;171;p19"/>
          <p:cNvSpPr/>
          <p:nvPr/>
        </p:nvSpPr>
        <p:spPr>
          <a:xfrm>
            <a:off x="5255776" y="3073122"/>
            <a:ext cx="4118848" cy="789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6200"/>
              <a:buFont typeface="Overpass"/>
              <a:buNone/>
            </a:pPr>
            <a:r>
              <a:rPr lang="en-US" sz="6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150ms</a:t>
            </a:r>
            <a:endParaRPr sz="6200" b="0" i="0" u="none" strike="noStrike" cap="none"/>
          </a:p>
        </p:txBody>
      </p:sp>
      <p:sp>
        <p:nvSpPr>
          <p:cNvPr id="172" name="Google Shape;172;p19"/>
          <p:cNvSpPr/>
          <p:nvPr/>
        </p:nvSpPr>
        <p:spPr>
          <a:xfrm>
            <a:off x="5907048" y="4162068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API Response</a:t>
            </a:r>
            <a:endParaRPr sz="2200" b="0" i="0" u="none" strike="noStrike" cap="none"/>
          </a:p>
        </p:txBody>
      </p:sp>
      <p:sp>
        <p:nvSpPr>
          <p:cNvPr id="173" name="Google Shape;173;p19"/>
          <p:cNvSpPr/>
          <p:nvPr/>
        </p:nvSpPr>
        <p:spPr>
          <a:xfrm>
            <a:off x="5255776" y="4657606"/>
            <a:ext cx="4118848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Average response time for API calls.</a:t>
            </a:r>
            <a:endParaRPr sz="1850" b="0" i="0" u="none" strike="noStrike" cap="none"/>
          </a:p>
        </p:txBody>
      </p:sp>
      <p:sp>
        <p:nvSpPr>
          <p:cNvPr id="174" name="Google Shape;174;p19"/>
          <p:cNvSpPr/>
          <p:nvPr/>
        </p:nvSpPr>
        <p:spPr>
          <a:xfrm>
            <a:off x="9673828" y="3073122"/>
            <a:ext cx="4118848" cy="789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6200"/>
              <a:buFont typeface="Overpass"/>
              <a:buNone/>
            </a:pPr>
            <a:r>
              <a:rPr lang="en-US" sz="6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30s</a:t>
            </a:r>
            <a:endParaRPr sz="6200" b="0" i="0" u="none" strike="noStrike" cap="none"/>
          </a:p>
        </p:txBody>
      </p:sp>
      <p:sp>
        <p:nvSpPr>
          <p:cNvPr id="175" name="Google Shape;175;p19"/>
          <p:cNvSpPr/>
          <p:nvPr/>
        </p:nvSpPr>
        <p:spPr>
          <a:xfrm>
            <a:off x="10325100" y="4162068"/>
            <a:ext cx="2816185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TOTP Refresh</a:t>
            </a:r>
            <a:endParaRPr sz="2200" b="0" i="0" u="none" strike="noStrike" cap="none"/>
          </a:p>
        </p:txBody>
      </p:sp>
      <p:sp>
        <p:nvSpPr>
          <p:cNvPr id="176" name="Google Shape;176;p19"/>
          <p:cNvSpPr/>
          <p:nvPr/>
        </p:nvSpPr>
        <p:spPr>
          <a:xfrm>
            <a:off x="9673828" y="4657606"/>
            <a:ext cx="4118848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Codes refresh every 30 seconds, RFC 6238 compliant.</a:t>
            </a:r>
            <a:endParaRPr sz="1850" b="0" i="0" u="none" strike="noStrike" cap="none"/>
          </a:p>
        </p:txBody>
      </p:sp>
      <p:sp>
        <p:nvSpPr>
          <p:cNvPr id="177" name="Google Shape;177;p19"/>
          <p:cNvSpPr/>
          <p:nvPr/>
        </p:nvSpPr>
        <p:spPr>
          <a:xfrm>
            <a:off x="837724" y="5692854"/>
            <a:ext cx="12954952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The system demonstrated successful login with 2FA enforcement, multi-account management, and a responsive, dark-mode optimized interface.</a:t>
            </a:r>
            <a:endParaRPr sz="1850" b="0" i="0" u="none" strike="noStrike" cap="none"/>
          </a:p>
        </p:txBody>
      </p:sp>
      <p:pic>
        <p:nvPicPr>
          <p:cNvPr id="178" name="Google Shape;1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01600" y="7458075"/>
            <a:ext cx="1828800" cy="7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0"/>
          <p:cNvSpPr/>
          <p:nvPr/>
        </p:nvSpPr>
        <p:spPr>
          <a:xfrm>
            <a:off x="837724" y="2454116"/>
            <a:ext cx="5632490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Overpass"/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Ethical Impact</a:t>
            </a:r>
            <a:endParaRPr sz="4400" b="0" i="0" u="none" strike="noStrike" cap="none"/>
          </a:p>
        </p:txBody>
      </p:sp>
      <p:sp>
        <p:nvSpPr>
          <p:cNvPr id="185" name="Google Shape;185;p20"/>
          <p:cNvSpPr/>
          <p:nvPr/>
        </p:nvSpPr>
        <p:spPr>
          <a:xfrm>
            <a:off x="837724" y="3636883"/>
            <a:ext cx="4158734" cy="2138482"/>
          </a:xfrm>
          <a:prstGeom prst="roundRect">
            <a:avLst>
              <a:gd name="adj" fmla="val 4701"/>
            </a:avLst>
          </a:prstGeom>
          <a:solidFill>
            <a:srgbClr val="7E023C"/>
          </a:solidFill>
          <a:ln w="9525" cap="flat" cmpd="sng">
            <a:solidFill>
              <a:srgbClr val="971B5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0"/>
          <p:cNvSpPr/>
          <p:nvPr/>
        </p:nvSpPr>
        <p:spPr>
          <a:xfrm>
            <a:off x="1084659" y="3883819"/>
            <a:ext cx="2876312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Enhanced User Privacy</a:t>
            </a:r>
            <a:endParaRPr sz="2200" b="0" i="0" u="none" strike="noStrike" cap="none"/>
          </a:p>
        </p:txBody>
      </p:sp>
      <p:sp>
        <p:nvSpPr>
          <p:cNvPr id="187" name="Google Shape;187;p20"/>
          <p:cNvSpPr/>
          <p:nvPr/>
        </p:nvSpPr>
        <p:spPr>
          <a:xfrm>
            <a:off x="1084659" y="4626293"/>
            <a:ext cx="3782309" cy="114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Reduces cyberattack risks and never stores passwords in plaintext.</a:t>
            </a:r>
            <a:endParaRPr sz="1850" b="0" i="0" u="none" strike="noStrike" cap="none" dirty="0"/>
          </a:p>
        </p:txBody>
      </p:sp>
      <p:sp>
        <p:nvSpPr>
          <p:cNvPr id="188" name="Google Shape;188;p20"/>
          <p:cNvSpPr/>
          <p:nvPr/>
        </p:nvSpPr>
        <p:spPr>
          <a:xfrm>
            <a:off x="5235773" y="3636883"/>
            <a:ext cx="4158734" cy="2138482"/>
          </a:xfrm>
          <a:prstGeom prst="roundRect">
            <a:avLst>
              <a:gd name="adj" fmla="val 4701"/>
            </a:avLst>
          </a:prstGeom>
          <a:solidFill>
            <a:srgbClr val="7E023C"/>
          </a:solidFill>
          <a:ln w="9525" cap="flat" cmpd="sng">
            <a:solidFill>
              <a:srgbClr val="971B5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20"/>
          <p:cNvSpPr/>
          <p:nvPr/>
        </p:nvSpPr>
        <p:spPr>
          <a:xfrm>
            <a:off x="5482709" y="3883819"/>
            <a:ext cx="3202424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Data Security Compliance</a:t>
            </a:r>
            <a:endParaRPr sz="2200" b="0" i="0" u="none" strike="noStrike" cap="none"/>
          </a:p>
        </p:txBody>
      </p:sp>
      <p:sp>
        <p:nvSpPr>
          <p:cNvPr id="190" name="Google Shape;190;p20"/>
          <p:cNvSpPr/>
          <p:nvPr/>
        </p:nvSpPr>
        <p:spPr>
          <a:xfrm>
            <a:off x="5482708" y="4610631"/>
            <a:ext cx="4030002" cy="114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Adheres to GDPR-like principles and OWASP Authentication Guidelines.</a:t>
            </a:r>
            <a:endParaRPr sz="1850" b="0" i="0" u="none" strike="noStrike" cap="none" dirty="0"/>
          </a:p>
        </p:txBody>
      </p:sp>
      <p:sp>
        <p:nvSpPr>
          <p:cNvPr id="191" name="Google Shape;191;p20"/>
          <p:cNvSpPr/>
          <p:nvPr/>
        </p:nvSpPr>
        <p:spPr>
          <a:xfrm>
            <a:off x="9633823" y="3636883"/>
            <a:ext cx="4158853" cy="2138482"/>
          </a:xfrm>
          <a:prstGeom prst="roundRect">
            <a:avLst>
              <a:gd name="adj" fmla="val 4701"/>
            </a:avLst>
          </a:prstGeom>
          <a:solidFill>
            <a:srgbClr val="7E023C"/>
          </a:solidFill>
          <a:ln w="9525" cap="flat" cmpd="sng">
            <a:solidFill>
              <a:srgbClr val="971B5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20"/>
          <p:cNvSpPr/>
          <p:nvPr/>
        </p:nvSpPr>
        <p:spPr>
          <a:xfrm>
            <a:off x="9880759" y="3883819"/>
            <a:ext cx="2892028" cy="35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2200"/>
              <a:buFont typeface="Overpass"/>
              <a:buNone/>
            </a:pPr>
            <a:r>
              <a:rPr lang="en-US" sz="220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Reduced Cyber Threats</a:t>
            </a:r>
            <a:endParaRPr sz="2200" b="0" i="0" u="none" strike="noStrike" cap="none"/>
          </a:p>
        </p:txBody>
      </p:sp>
      <p:sp>
        <p:nvSpPr>
          <p:cNvPr id="193" name="Google Shape;193;p20"/>
          <p:cNvSpPr/>
          <p:nvPr/>
        </p:nvSpPr>
        <p:spPr>
          <a:xfrm>
            <a:off x="9641442" y="4610631"/>
            <a:ext cx="4151233" cy="114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0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Lowers the barrier for robust authentication, combating phishing and brute-force attacks.</a:t>
            </a:r>
            <a:endParaRPr sz="1850" b="0" i="0" u="none" strike="noStrike" cap="none" dirty="0"/>
          </a:p>
        </p:txBody>
      </p:sp>
      <p:pic>
        <p:nvPicPr>
          <p:cNvPr id="194" name="Google Shape;19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72775" y="7458075"/>
            <a:ext cx="1915250" cy="7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1"/>
          <p:cNvSpPr/>
          <p:nvPr/>
        </p:nvSpPr>
        <p:spPr>
          <a:xfrm>
            <a:off x="607338" y="477202"/>
            <a:ext cx="4083487" cy="510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Overpass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Market Relevance</a:t>
            </a:r>
            <a:endParaRPr sz="3200" b="0" i="0" u="none" strike="noStrike" cap="none"/>
          </a:p>
        </p:txBody>
      </p:sp>
      <p:sp>
        <p:nvSpPr>
          <p:cNvPr id="201" name="Google Shape;201;p21"/>
          <p:cNvSpPr/>
          <p:nvPr/>
        </p:nvSpPr>
        <p:spPr>
          <a:xfrm>
            <a:off x="607338" y="1334691"/>
            <a:ext cx="13415724" cy="555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350"/>
              <a:buFont typeface="Overpass"/>
              <a:buNone/>
            </a:pPr>
            <a:r>
              <a:rPr lang="en-US" sz="135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The global MFA market is projected to grow significantly, with high demand in banking, SaaS, and e-commerce. This project offers a lightweight, open-source-friendly solution that can be integrated as a microservice, differentiating it from proprietary alternatives.</a:t>
            </a:r>
            <a:endParaRPr sz="1350" b="0" i="0" u="none" strike="noStrike" cap="none"/>
          </a:p>
        </p:txBody>
      </p:sp>
      <p:pic>
        <p:nvPicPr>
          <p:cNvPr id="202" name="Google Shape;202;p2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7338" y="2085142"/>
            <a:ext cx="13415724" cy="751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114425" y="7458075"/>
            <a:ext cx="1515975" cy="7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"/>
          <p:cNvSpPr/>
          <p:nvPr/>
        </p:nvSpPr>
        <p:spPr>
          <a:xfrm>
            <a:off x="711994" y="560546"/>
            <a:ext cx="4787027" cy="598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33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50"/>
              <a:buFont typeface="Overpass"/>
              <a:buNone/>
            </a:pPr>
            <a:r>
              <a:rPr lang="en-US" sz="3750" b="1" i="0" u="none" strike="noStrike" cap="none">
                <a:solidFill>
                  <a:srgbClr val="FFFFFF"/>
                </a:solidFill>
                <a:latin typeface="Overpass"/>
                <a:ea typeface="Overpass"/>
                <a:cs typeface="Overpass"/>
                <a:sym typeface="Overpass"/>
              </a:rPr>
              <a:t>Future Scope</a:t>
            </a:r>
            <a:endParaRPr sz="3750" b="0" i="0" u="none" strike="noStrike" cap="none"/>
          </a:p>
        </p:txBody>
      </p:sp>
      <p:pic>
        <p:nvPicPr>
          <p:cNvPr id="210" name="Google Shape;210;p2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1994" y="1565791"/>
            <a:ext cx="1017151" cy="1220629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2"/>
          <p:cNvSpPr/>
          <p:nvPr/>
        </p:nvSpPr>
        <p:spPr>
          <a:xfrm>
            <a:off x="1932503" y="1769150"/>
            <a:ext cx="2405420" cy="29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Mobile App Companion</a:t>
            </a:r>
            <a:endParaRPr sz="18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932502" y="2366248"/>
            <a:ext cx="11985903" cy="32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600"/>
              <a:buFont typeface="Overpass"/>
              <a:buNone/>
            </a:pPr>
            <a:r>
              <a:rPr lang="en-US" sz="1600" b="0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Dedicated app for instant OTP access and push notifications.</a:t>
            </a:r>
            <a:endParaRPr sz="1600" b="0" i="0" u="none" strike="noStrike" cap="none" dirty="0"/>
          </a:p>
        </p:txBody>
      </p:sp>
      <p:pic>
        <p:nvPicPr>
          <p:cNvPr id="213" name="Google Shape;213;p2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1994" y="2786420"/>
            <a:ext cx="1017151" cy="1220629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2"/>
          <p:cNvSpPr/>
          <p:nvPr/>
        </p:nvSpPr>
        <p:spPr>
          <a:xfrm>
            <a:off x="1932503" y="2989778"/>
            <a:ext cx="2393513" cy="29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Biometric Integration</a:t>
            </a:r>
            <a:endParaRPr sz="1850" b="0" i="0" u="none" strike="noStrike" cap="none"/>
          </a:p>
        </p:txBody>
      </p:sp>
      <p:sp>
        <p:nvSpPr>
          <p:cNvPr id="215" name="Google Shape;215;p22"/>
          <p:cNvSpPr/>
          <p:nvPr/>
        </p:nvSpPr>
        <p:spPr>
          <a:xfrm>
            <a:off x="1932503" y="3410903"/>
            <a:ext cx="11985903" cy="32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600"/>
              <a:buFont typeface="Overpass"/>
              <a:buNone/>
            </a:pPr>
            <a:r>
              <a:rPr lang="en-US" sz="160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Fingerprint and facial recognition for enhanced convenience and security.</a:t>
            </a:r>
            <a:endParaRPr sz="1600" b="0" i="0" u="none" strike="noStrike" cap="none"/>
          </a:p>
        </p:txBody>
      </p:sp>
      <p:pic>
        <p:nvPicPr>
          <p:cNvPr id="216" name="Google Shape;216;p2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1994" y="4007048"/>
            <a:ext cx="1017151" cy="1220629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2"/>
          <p:cNvSpPr/>
          <p:nvPr/>
        </p:nvSpPr>
        <p:spPr>
          <a:xfrm>
            <a:off x="1932503" y="4210407"/>
            <a:ext cx="2393513" cy="29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Cloud Key Storage</a:t>
            </a:r>
            <a:endParaRPr sz="1850" b="0" i="0" u="none" strike="noStrike" cap="none"/>
          </a:p>
        </p:txBody>
      </p:sp>
      <p:sp>
        <p:nvSpPr>
          <p:cNvPr id="218" name="Google Shape;218;p22"/>
          <p:cNvSpPr/>
          <p:nvPr/>
        </p:nvSpPr>
        <p:spPr>
          <a:xfrm>
            <a:off x="1932503" y="4631531"/>
            <a:ext cx="11985903" cy="32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600"/>
              <a:buFont typeface="Overpass"/>
              <a:buNone/>
            </a:pPr>
            <a:r>
              <a:rPr lang="en-US" sz="160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Encrypted cloud-based storage for seamless device synchronization.</a:t>
            </a:r>
            <a:endParaRPr sz="1600" b="0" i="0" u="none" strike="noStrike" cap="none"/>
          </a:p>
        </p:txBody>
      </p:sp>
      <p:pic>
        <p:nvPicPr>
          <p:cNvPr id="219" name="Google Shape;219;p2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1994" y="5227677"/>
            <a:ext cx="1017151" cy="1220629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/>
          <p:nvPr/>
        </p:nvSpPr>
        <p:spPr>
          <a:xfrm>
            <a:off x="1932503" y="5431036"/>
            <a:ext cx="2393513" cy="29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1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Role-Based Access</a:t>
            </a:r>
            <a:endParaRPr sz="1850" b="0" i="0" u="none" strike="noStrike" cap="none"/>
          </a:p>
        </p:txBody>
      </p:sp>
      <p:sp>
        <p:nvSpPr>
          <p:cNvPr id="221" name="Google Shape;221;p22"/>
          <p:cNvSpPr/>
          <p:nvPr/>
        </p:nvSpPr>
        <p:spPr>
          <a:xfrm>
            <a:off x="1932503" y="5852160"/>
            <a:ext cx="11985903" cy="32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600"/>
              <a:buFont typeface="Overpass"/>
              <a:buNone/>
            </a:pPr>
            <a:r>
              <a:rPr lang="en-US" sz="1600" b="0" i="0" u="none" strike="noStrike" cap="none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Granular access control for enterprise use cases.</a:t>
            </a:r>
            <a:endParaRPr sz="1600" b="0" i="0" u="none" strike="noStrike" cap="none"/>
          </a:p>
        </p:txBody>
      </p:sp>
      <p:pic>
        <p:nvPicPr>
          <p:cNvPr id="222" name="Google Shape;222;p2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1994" y="6448306"/>
            <a:ext cx="1017151" cy="1220629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2"/>
          <p:cNvSpPr/>
          <p:nvPr/>
        </p:nvSpPr>
        <p:spPr>
          <a:xfrm>
            <a:off x="1932503" y="6625233"/>
            <a:ext cx="3170439" cy="32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850"/>
              <a:buFont typeface="Overpass"/>
              <a:buNone/>
            </a:pPr>
            <a:r>
              <a:rPr lang="en-US" sz="1850" b="1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FIDO2/</a:t>
            </a:r>
            <a:r>
              <a:rPr lang="en-US" sz="1850" b="1" i="0" u="none" strike="noStrike" cap="none" dirty="0" err="1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WebAuthn</a:t>
            </a:r>
            <a:r>
              <a:rPr lang="en-US" sz="1850" b="1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 Support</a:t>
            </a:r>
            <a:endParaRPr sz="1850" b="0" i="0" u="none" strike="noStrike" cap="none" dirty="0"/>
          </a:p>
        </p:txBody>
      </p:sp>
      <p:sp>
        <p:nvSpPr>
          <p:cNvPr id="224" name="Google Shape;224;p22"/>
          <p:cNvSpPr/>
          <p:nvPr/>
        </p:nvSpPr>
        <p:spPr>
          <a:xfrm>
            <a:off x="1932503" y="7072789"/>
            <a:ext cx="11985903" cy="32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E5E0DF"/>
              </a:buClr>
              <a:buSzPts val="1600"/>
              <a:buFont typeface="Overpass"/>
              <a:buNone/>
            </a:pPr>
            <a:r>
              <a:rPr lang="en-US" sz="1600" b="0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Integration for </a:t>
            </a:r>
            <a:r>
              <a:rPr lang="en-US" sz="1600" b="0" i="0" u="none" strike="noStrike" cap="none" dirty="0" err="1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passwordless</a:t>
            </a:r>
            <a:r>
              <a:rPr lang="en-US" sz="1600" b="0" i="0" u="none" strike="noStrike" cap="none" dirty="0">
                <a:solidFill>
                  <a:srgbClr val="E5E0DF"/>
                </a:solidFill>
                <a:latin typeface="Overpass"/>
                <a:ea typeface="Overpass"/>
                <a:cs typeface="Overpass"/>
                <a:sym typeface="Overpass"/>
              </a:rPr>
              <a:t> and hardware-backed authentication.</a:t>
            </a:r>
            <a:endParaRPr sz="1600" b="0" i="0" u="none" strike="noStrike" cap="none" dirty="0"/>
          </a:p>
        </p:txBody>
      </p:sp>
      <p:pic>
        <p:nvPicPr>
          <p:cNvPr id="225" name="Google Shape;225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2825679" y="7398300"/>
            <a:ext cx="1804725" cy="7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570</Words>
  <Application>Microsoft Office PowerPoint</Application>
  <PresentationFormat>Custom</PresentationFormat>
  <Paragraphs>91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Overpass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nathanwaghchoure</dc:creator>
  <cp:lastModifiedBy>NATHAN YAKOB</cp:lastModifiedBy>
  <cp:revision>1</cp:revision>
  <dcterms:modified xsi:type="dcterms:W3CDTF">2025-09-14T09:09:08Z</dcterms:modified>
</cp:coreProperties>
</file>